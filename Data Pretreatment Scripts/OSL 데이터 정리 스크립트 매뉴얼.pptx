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08" r:id="rId2"/>
  </p:sldMasterIdLst>
  <p:notesMasterIdLst>
    <p:notesMasterId r:id="rId10"/>
  </p:notesMasterIdLst>
  <p:handoutMasterIdLst>
    <p:handoutMasterId r:id="rId11"/>
  </p:handoutMasterIdLst>
  <p:sldIdLst>
    <p:sldId id="256" r:id="rId3"/>
    <p:sldId id="262" r:id="rId4"/>
    <p:sldId id="258" r:id="rId5"/>
    <p:sldId id="260" r:id="rId6"/>
    <p:sldId id="257" r:id="rId7"/>
    <p:sldId id="259" r:id="rId8"/>
    <p:sldId id="26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ng jin hwan" initials="hjh" lastIdx="2" clrIdx="0">
    <p:extLst>
      <p:ext uri="{19B8F6BF-5375-455C-9EA6-DF929625EA0E}">
        <p15:presenceInfo xmlns:p15="http://schemas.microsoft.com/office/powerpoint/2012/main" userId="695f63591fb2a4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FF"/>
    <a:srgbClr val="4652FF"/>
    <a:srgbClr val="FFFFFF"/>
    <a:srgbClr val="538995"/>
    <a:srgbClr val="2D4A51"/>
    <a:srgbClr val="C1D8DD"/>
    <a:srgbClr val="79AAB5"/>
    <a:srgbClr val="A9C8CF"/>
    <a:srgbClr val="FFC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7" autoAdjust="0"/>
    <p:restoredTop sz="97356" autoAdjust="0"/>
  </p:normalViewPr>
  <p:slideViewPr>
    <p:cSldViewPr snapToGrid="0">
      <p:cViewPr>
        <p:scale>
          <a:sx n="66" d="100"/>
          <a:sy n="66" d="100"/>
        </p:scale>
        <p:origin x="1300" y="-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D14EA31-6088-48D2-BEE1-7BA9DBA9F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B23D01-4A8F-4BE7-9803-4DB0A26C97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04B65-E220-44A0-A1CD-D5EFBCA747E8}" type="datetimeFigureOut">
              <a:rPr lang="ko-KR" altLang="en-US" smtClean="0"/>
              <a:t>2022-12-13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ABCD3B-0D44-4A49-87BE-01A0FC420B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EF08D1-CCB9-4AF2-B28F-1BC608FF4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F7CAF-ACDB-45A2-BD63-D26DB5E8A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337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08B6E-8CA4-4D53-9FEC-88A388B2A651}" type="datetimeFigureOut">
              <a:rPr lang="ko-KR" altLang="en-US" smtClean="0"/>
              <a:t>2022-12-13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09F52-6FD3-469D-A401-CFA40B2A84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7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표지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741D89F-424F-03D7-0C8B-D48E2185137F}"/>
              </a:ext>
            </a:extLst>
          </p:cNvPr>
          <p:cNvSpPr txBox="1"/>
          <p:nvPr userDrawn="1"/>
        </p:nvSpPr>
        <p:spPr>
          <a:xfrm>
            <a:off x="1738116" y="2046161"/>
            <a:ext cx="566776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ko-KR" sz="1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nyx" panose="04050602080702020203" pitchFamily="82" charset="0"/>
                <a:ea typeface="+mn-ea"/>
                <a:cs typeface="Times New Roman" panose="02020603050405020304" pitchFamily="18" charset="0"/>
              </a:rPr>
              <a:t>Lab</a:t>
            </a:r>
            <a:r>
              <a:rPr kumimoji="0" lang="ko-KR" alt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nyx" panose="04050602080702020203" pitchFamily="82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ko-KR" sz="1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nyx" panose="04050602080702020203" pitchFamily="82" charset="0"/>
                <a:ea typeface="+mn-ea"/>
                <a:cs typeface="Times New Roman" panose="02020603050405020304" pitchFamily="18" charset="0"/>
              </a:rPr>
              <a:t>meeting</a:t>
            </a:r>
            <a:endParaRPr lang="ko-KR" altLang="en-US" sz="7200" b="0" i="0" dirty="0">
              <a:latin typeface="Onyx" panose="04050602080702020203" pitchFamily="82" charset="0"/>
              <a:cs typeface="Times New Roman" panose="02020603050405020304" pitchFamily="18" charset="0"/>
            </a:endParaRPr>
          </a:p>
        </p:txBody>
      </p:sp>
      <p:sp>
        <p:nvSpPr>
          <p:cNvPr id="32" name="날짜 개체 틀 3">
            <a:extLst>
              <a:ext uri="{FF2B5EF4-FFF2-40B4-BE49-F238E27FC236}">
                <a16:creationId xmlns:a16="http://schemas.microsoft.com/office/drawing/2014/main" id="{E6C4E2FD-ACDE-74A2-6BE2-DCE954173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84141" y="648027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D28BF61-BDD9-4C46-8116-7DCBE4868A31}" type="datetime1">
              <a:rPr lang="ko-KR" altLang="en-US" smtClean="0"/>
              <a:pPr/>
              <a:t>2022-12-13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329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표지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741D89F-424F-03D7-0C8B-D48E2185137F}"/>
              </a:ext>
            </a:extLst>
          </p:cNvPr>
          <p:cNvSpPr txBox="1"/>
          <p:nvPr userDrawn="1"/>
        </p:nvSpPr>
        <p:spPr>
          <a:xfrm>
            <a:off x="1738116" y="2422441"/>
            <a:ext cx="56677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ko-KR" sz="8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  <a:cs typeface="Times New Roman" panose="02020603050405020304" pitchFamily="18" charset="0"/>
              </a:rPr>
              <a:t>Lab</a:t>
            </a:r>
            <a:r>
              <a:rPr kumimoji="0" lang="ko-KR" altLang="en-US" sz="8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kumimoji="0" lang="en-US" altLang="ko-KR" sz="8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  <a:cs typeface="Times New Roman" panose="02020603050405020304" pitchFamily="18" charset="0"/>
              </a:rPr>
              <a:t>meeting</a:t>
            </a:r>
            <a:endParaRPr lang="ko-KR" altLang="en-US" sz="5400" b="1" i="0" spc="-300" dirty="0">
              <a:latin typeface="HG꼬딕씨_Pro 20g" panose="02020603020101020101" pitchFamily="18" charset="-127"/>
              <a:ea typeface="HG꼬딕씨_Pro 20g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2" name="날짜 개체 틀 3">
            <a:extLst>
              <a:ext uri="{FF2B5EF4-FFF2-40B4-BE49-F238E27FC236}">
                <a16:creationId xmlns:a16="http://schemas.microsoft.com/office/drawing/2014/main" id="{E6C4E2FD-ACDE-74A2-6BE2-DCE954173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84141" y="648027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D28BF61-BDD9-4C46-8116-7DCBE4868A31}" type="datetime1">
              <a:rPr lang="ko-KR" altLang="en-US" smtClean="0"/>
              <a:pPr/>
              <a:t>2022-12-13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09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표지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32E86D1-C473-3320-7AD0-0C1B8D79F842}"/>
              </a:ext>
            </a:extLst>
          </p:cNvPr>
          <p:cNvSpPr txBox="1"/>
          <p:nvPr userDrawn="1"/>
        </p:nvSpPr>
        <p:spPr>
          <a:xfrm>
            <a:off x="1738115" y="2585980"/>
            <a:ext cx="60706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ko-KR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Times New Roman" panose="02020603050405020304" pitchFamily="18" charset="0"/>
              </a:rPr>
              <a:t>Lab</a:t>
            </a: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ko-KR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Times New Roman" panose="02020603050405020304" pitchFamily="18" charset="0"/>
              </a:rPr>
              <a:t>meeting</a:t>
            </a:r>
            <a:endParaRPr lang="ko-KR" altLang="en-US" sz="4400" b="0" i="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날짜 개체 틀 3">
            <a:extLst>
              <a:ext uri="{FF2B5EF4-FFF2-40B4-BE49-F238E27FC236}">
                <a16:creationId xmlns:a16="http://schemas.microsoft.com/office/drawing/2014/main" id="{288AE649-067C-6A35-F96B-0918BF7B8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84141" y="648027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D28BF61-BDD9-4C46-8116-7DCBE4868A31}" type="datetime1">
              <a:rPr lang="ko-KR" altLang="en-US" smtClean="0"/>
              <a:pPr/>
              <a:t>2022-12-13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680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60DD08-C12C-4AA1-991A-C7D2A74BA2D4}"/>
              </a:ext>
            </a:extLst>
          </p:cNvPr>
          <p:cNvSpPr/>
          <p:nvPr userDrawn="1"/>
        </p:nvSpPr>
        <p:spPr>
          <a:xfrm rot="10800000">
            <a:off x="623887" y="-71967"/>
            <a:ext cx="7886700" cy="4511748"/>
          </a:xfrm>
          <a:prstGeom prst="rect">
            <a:avLst/>
          </a:prstGeom>
          <a:gradFill flip="none" rotWithShape="1">
            <a:gsLst>
              <a:gs pos="79000">
                <a:srgbClr val="AECCD3"/>
              </a:gs>
              <a:gs pos="61000">
                <a:srgbClr val="B8D1D9">
                  <a:lumMod val="39000"/>
                  <a:lumOff val="61000"/>
                </a:srgbClr>
              </a:gs>
              <a:gs pos="28000">
                <a:schemeClr val="accent1">
                  <a:lumMod val="5000"/>
                  <a:lumOff val="95000"/>
                </a:schemeClr>
              </a:gs>
              <a:gs pos="92000">
                <a:srgbClr val="538995"/>
              </a:gs>
              <a:gs pos="100000">
                <a:srgbClr val="2D4A5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7B8E2D-326C-4C53-BFA7-1B6972CFAC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800" y="1751815"/>
            <a:ext cx="7697788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ko-KR" dirty="0"/>
              <a:t>Insert Title Here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DB3518-CF56-4861-A39E-2CFD559E4E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134" y="4589466"/>
            <a:ext cx="7756208" cy="1500187"/>
          </a:xfrm>
        </p:spPr>
        <p:txBody>
          <a:bodyPr numCol="2">
            <a:normAutofit/>
          </a:bodyPr>
          <a:lstStyle>
            <a:lvl1pPr marL="457189" indent="-457189">
              <a:buFont typeface="+mj-lt"/>
              <a:buAutoNum type="arabicPeriod"/>
              <a:defRPr sz="2000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소제목을 입력하세요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C66FA879-F55C-4AAD-ADEE-4DF9E9F628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03" y="6563721"/>
            <a:ext cx="2716066" cy="23973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altLang="ko-KR" dirty="0"/>
              <a:t>Citation for references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B2D4B0E-6C49-4AB8-A686-80F60F56C6DF}"/>
              </a:ext>
            </a:extLst>
          </p:cNvPr>
          <p:cNvCxnSpPr>
            <a:cxnSpLocks/>
          </p:cNvCxnSpPr>
          <p:nvPr userDrawn="1"/>
        </p:nvCxnSpPr>
        <p:spPr>
          <a:xfrm>
            <a:off x="623888" y="4439781"/>
            <a:ext cx="7886700" cy="0"/>
          </a:xfrm>
          <a:prstGeom prst="line">
            <a:avLst/>
          </a:prstGeom>
          <a:ln w="41275">
            <a:solidFill>
              <a:srgbClr val="2D4A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72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일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F49CA-3451-437A-B741-109A0925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5" y="143372"/>
            <a:ext cx="7052310" cy="291568"/>
          </a:xfrm>
        </p:spPr>
        <p:txBody>
          <a:bodyPr>
            <a:noAutofit/>
          </a:bodyPr>
          <a:lstStyle>
            <a:lvl1pPr>
              <a:defRPr sz="1600" b="1" strike="noStrike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16E71-B497-4A78-8CF9-032B2E571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09" y="673239"/>
            <a:ext cx="8815526" cy="5683169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235F39D-663E-477B-B054-CF30860EAB97}"/>
              </a:ext>
            </a:extLst>
          </p:cNvPr>
          <p:cNvCxnSpPr>
            <a:cxnSpLocks/>
          </p:cNvCxnSpPr>
          <p:nvPr userDrawn="1"/>
        </p:nvCxnSpPr>
        <p:spPr>
          <a:xfrm>
            <a:off x="130835" y="417184"/>
            <a:ext cx="7981950" cy="0"/>
          </a:xfrm>
          <a:prstGeom prst="line">
            <a:avLst/>
          </a:prstGeom>
          <a:ln w="63500">
            <a:solidFill>
              <a:srgbClr val="2D4A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B92B8EED-632B-C188-7D33-1631461E3C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03" y="6563721"/>
            <a:ext cx="2716066" cy="23973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altLang="ko-KR" dirty="0"/>
              <a:t>Citation for references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48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2F60A-0CBB-43EB-82A2-68BDC6392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186" y="594805"/>
            <a:ext cx="4154750" cy="5564464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D1ECB86B-86E2-41EE-AB57-C0E75A23D1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03" y="6565514"/>
            <a:ext cx="2716066" cy="23973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altLang="ko-KR" dirty="0"/>
              <a:t>Citation for references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7B04635-67F3-42B5-9556-C8F444B9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5" y="143372"/>
            <a:ext cx="7052310" cy="291568"/>
          </a:xfrm>
        </p:spPr>
        <p:txBody>
          <a:bodyPr>
            <a:noAutofit/>
          </a:bodyPr>
          <a:lstStyle>
            <a:lvl1pPr>
              <a:defRPr sz="1600" b="1" spc="1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BD939E0-F0E5-4DAA-BDD3-2F6B2D98405B}"/>
              </a:ext>
            </a:extLst>
          </p:cNvPr>
          <p:cNvCxnSpPr>
            <a:cxnSpLocks/>
          </p:cNvCxnSpPr>
          <p:nvPr userDrawn="1"/>
        </p:nvCxnSpPr>
        <p:spPr>
          <a:xfrm>
            <a:off x="130835" y="417184"/>
            <a:ext cx="7981950" cy="0"/>
          </a:xfrm>
          <a:prstGeom prst="line">
            <a:avLst/>
          </a:prstGeom>
          <a:ln w="63500">
            <a:solidFill>
              <a:srgbClr val="2D4A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2315F5D-3527-4DCC-8DB6-2EF55F5AF4A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785065" y="594805"/>
            <a:ext cx="4154750" cy="5564464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9458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CD5C5-B53D-4531-ADB1-BD45C6495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944" y="583180"/>
            <a:ext cx="4163625" cy="47326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4C8B30-7715-4B54-B6CA-8891C475F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1944" y="1145923"/>
            <a:ext cx="4163625" cy="517497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9E0905E7-4F32-49AE-B3FA-0F958A52EF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03" y="6566261"/>
            <a:ext cx="2716066" cy="23973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altLang="ko-KR" dirty="0"/>
              <a:t>Citation for references</a:t>
            </a:r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B9981C1-A9A9-4D71-A187-6FA404FE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5" y="143372"/>
            <a:ext cx="7052310" cy="291568"/>
          </a:xfrm>
        </p:spPr>
        <p:txBody>
          <a:bodyPr>
            <a:noAutofit/>
          </a:bodyPr>
          <a:lstStyle>
            <a:lvl1pPr>
              <a:defRPr sz="1600" b="1" spc="1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BCE1941-802C-44EA-A957-AAE5C6C1EEC7}"/>
              </a:ext>
            </a:extLst>
          </p:cNvPr>
          <p:cNvCxnSpPr>
            <a:cxnSpLocks/>
          </p:cNvCxnSpPr>
          <p:nvPr userDrawn="1"/>
        </p:nvCxnSpPr>
        <p:spPr>
          <a:xfrm>
            <a:off x="130835" y="417184"/>
            <a:ext cx="7981950" cy="0"/>
          </a:xfrm>
          <a:prstGeom prst="line">
            <a:avLst/>
          </a:prstGeom>
          <a:ln w="63500">
            <a:solidFill>
              <a:srgbClr val="2D4A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708C9582-5769-4817-A920-609EAC94C82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58433" y="583180"/>
            <a:ext cx="4163625" cy="47326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0F70EC39-FD6F-4E00-B80D-3565B897195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58433" y="1145923"/>
            <a:ext cx="4163625" cy="517497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73856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C8A5B4C2-495E-4715-952E-2E94F51B42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03" y="6561676"/>
            <a:ext cx="2716066" cy="23973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altLang="ko-KR" dirty="0"/>
              <a:t>Citation for references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A69D5F-B713-44DB-91F4-FACD56B1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5" y="143372"/>
            <a:ext cx="7052310" cy="291568"/>
          </a:xfrm>
        </p:spPr>
        <p:txBody>
          <a:bodyPr>
            <a:noAutofit/>
          </a:bodyPr>
          <a:lstStyle>
            <a:lvl1pPr>
              <a:defRPr sz="1600" b="1" spc="15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12B7CA-D864-4B65-ABF7-B6F3A8EA8BDA}"/>
              </a:ext>
            </a:extLst>
          </p:cNvPr>
          <p:cNvCxnSpPr>
            <a:cxnSpLocks/>
          </p:cNvCxnSpPr>
          <p:nvPr userDrawn="1"/>
        </p:nvCxnSpPr>
        <p:spPr>
          <a:xfrm>
            <a:off x="130835" y="417184"/>
            <a:ext cx="7981950" cy="0"/>
          </a:xfrm>
          <a:prstGeom prst="line">
            <a:avLst/>
          </a:prstGeom>
          <a:ln w="63500">
            <a:solidFill>
              <a:srgbClr val="2D4A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69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235E1B8-6BD7-40D1-9AAC-BC509BD5B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03" y="6562027"/>
            <a:ext cx="2716066" cy="23973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altLang="ko-KR" dirty="0"/>
              <a:t>Citation for references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97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C965238-2359-9BFD-CABD-12B3F34B2272}"/>
              </a:ext>
            </a:extLst>
          </p:cNvPr>
          <p:cNvSpPr/>
          <p:nvPr userDrawn="1"/>
        </p:nvSpPr>
        <p:spPr>
          <a:xfrm flipH="1">
            <a:off x="2696376" y="6492875"/>
            <a:ext cx="6447624" cy="365125"/>
          </a:xfrm>
          <a:prstGeom prst="rect">
            <a:avLst/>
          </a:prstGeom>
          <a:solidFill>
            <a:srgbClr val="538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A13EC59-19CD-75DE-7502-4CC1BDA91FFB}"/>
              </a:ext>
            </a:extLst>
          </p:cNvPr>
          <p:cNvGrpSpPr/>
          <p:nvPr userDrawn="1"/>
        </p:nvGrpSpPr>
        <p:grpSpPr>
          <a:xfrm rot="5400000">
            <a:off x="-3310575" y="3092194"/>
            <a:ext cx="7205491" cy="622800"/>
            <a:chOff x="461140" y="214554"/>
            <a:chExt cx="6447624" cy="6228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C3F69E-7ADB-14F9-BA13-F56D5C96C26C}"/>
                </a:ext>
              </a:extLst>
            </p:cNvPr>
            <p:cNvSpPr/>
            <p:nvPr userDrawn="1"/>
          </p:nvSpPr>
          <p:spPr>
            <a:xfrm>
              <a:off x="461140" y="214554"/>
              <a:ext cx="6447624" cy="622800"/>
            </a:xfrm>
            <a:prstGeom prst="rect">
              <a:avLst/>
            </a:prstGeom>
            <a:solidFill>
              <a:srgbClr val="538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AA08E9-78C4-89B5-4D71-DEDEB5ACE5CB}"/>
                </a:ext>
              </a:extLst>
            </p:cNvPr>
            <p:cNvSpPr/>
            <p:nvPr userDrawn="1"/>
          </p:nvSpPr>
          <p:spPr>
            <a:xfrm>
              <a:off x="5474758" y="237254"/>
              <a:ext cx="1419755" cy="590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71981B41-C07D-291D-28DF-87F0FC29F4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230173"/>
            <a:ext cx="565788" cy="58142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7B0289C9-6361-5DB5-062D-6460FE7BF848}"/>
              </a:ext>
            </a:extLst>
          </p:cNvPr>
          <p:cNvGrpSpPr/>
          <p:nvPr userDrawn="1"/>
        </p:nvGrpSpPr>
        <p:grpSpPr>
          <a:xfrm>
            <a:off x="834549" y="402096"/>
            <a:ext cx="4214881" cy="639993"/>
            <a:chOff x="1019462" y="794001"/>
            <a:chExt cx="5377250" cy="816489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EA0B430-FC9A-6D67-33EC-3BBAD60D97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8417"/>
            <a:stretch/>
          </p:blipFill>
          <p:spPr>
            <a:xfrm>
              <a:off x="1019462" y="794001"/>
              <a:ext cx="728410" cy="81648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E32D0D-1053-588C-9C9F-753CF6170914}"/>
                </a:ext>
              </a:extLst>
            </p:cNvPr>
            <p:cNvSpPr txBox="1"/>
            <p:nvPr userDrawn="1"/>
          </p:nvSpPr>
          <p:spPr>
            <a:xfrm>
              <a:off x="1747872" y="863690"/>
              <a:ext cx="4648840" cy="706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Organic Semiconductor Lab</a:t>
              </a:r>
            </a:p>
            <a:p>
              <a:r>
                <a:rPr lang="en-US" altLang="ko-KR" sz="1400" dirty="0"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SKKU Advanced Institute of Nano Technology</a:t>
              </a:r>
              <a:endParaRPr lang="ko-KR" altLang="en-US" sz="1400" dirty="0"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619FAE-6E41-516D-1CA6-2587E784D22E}"/>
              </a:ext>
            </a:extLst>
          </p:cNvPr>
          <p:cNvSpPr txBox="1"/>
          <p:nvPr userDrawn="1"/>
        </p:nvSpPr>
        <p:spPr>
          <a:xfrm>
            <a:off x="1738117" y="4311408"/>
            <a:ext cx="566776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  <a:cs typeface="+mn-cs"/>
              </a:rPr>
              <a:t>Taewoong Yoon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HG꼬딕씨_Pro 20g" panose="02020603020101020101" pitchFamily="18" charset="-127"/>
              <a:ea typeface="HG꼬딕씨_Pro 20g" panose="02020603020101020101" pitchFamily="18" charset="-127"/>
              <a:cs typeface="+mn-cs"/>
            </a:endParaRPr>
          </a:p>
          <a:p>
            <a:endParaRPr lang="ko-KR" altLang="en-US" dirty="0">
              <a:solidFill>
                <a:schemeClr val="bg2">
                  <a:lumMod val="25000"/>
                </a:schemeClr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20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8" r:id="rId2"/>
    <p:sldLayoutId id="2147483736" r:id="rId3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F9F84A3-7A65-4205-A9F7-E6A2346B1C11}"/>
              </a:ext>
            </a:extLst>
          </p:cNvPr>
          <p:cNvSpPr/>
          <p:nvPr userDrawn="1"/>
        </p:nvSpPr>
        <p:spPr>
          <a:xfrm>
            <a:off x="3230615" y="6558777"/>
            <a:ext cx="5914748" cy="299222"/>
          </a:xfrm>
          <a:prstGeom prst="rect">
            <a:avLst/>
          </a:prstGeom>
          <a:solidFill>
            <a:srgbClr val="538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D11993A-AB8D-42AF-BA36-A4B20076FA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8215" y="1"/>
            <a:ext cx="565788" cy="581422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53E708-384C-40B8-A753-2564C8CC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3F3650-D102-4436-8C78-1957DAF9C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7" name="TextBox 11">
            <a:extLst>
              <a:ext uri="{FF2B5EF4-FFF2-40B4-BE49-F238E27FC236}">
                <a16:creationId xmlns:a16="http://schemas.microsoft.com/office/drawing/2014/main" id="{76CAA2EB-4FD9-4151-AB7F-6A4CF035FC2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47378" y="6497322"/>
            <a:ext cx="651386" cy="46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43" tIns="91423" rIns="182843" bIns="914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fld id="{770FE1DC-F1F9-4F10-A3DF-B5456C73CC76}" type="slidenum">
              <a:rPr lang="id-ID" altLang="ko-KR" sz="1800" b="1" smtClean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pPr algn="ctr" eaLnBrk="1" hangingPunct="1">
                <a:lnSpc>
                  <a:spcPct val="100000"/>
                </a:lnSpc>
                <a:defRPr/>
              </a:pPr>
              <a:t>‹#›</a:t>
            </a:fld>
            <a:endParaRPr lang="id-ID" altLang="ko-KR" sz="180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832DA34C-38D3-47FE-8381-D2ABDA4AE5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31360" y="6484621"/>
            <a:ext cx="651386" cy="46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43" tIns="91423" rIns="182843" bIns="91423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fld id="{770FE1DC-F1F9-4F10-A3DF-B5456C73CC76}" type="slidenum">
              <a:rPr lang="id-ID" altLang="ko-KR" sz="1800" b="1" smtClean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pPr algn="ctr" eaLnBrk="1" hangingPunct="1">
                <a:lnSpc>
                  <a:spcPct val="100000"/>
                </a:lnSpc>
                <a:defRPr/>
              </a:pPr>
              <a:t>‹#›</a:t>
            </a:fld>
            <a:endParaRPr lang="id-ID" altLang="ko-KR" sz="180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AD3583-1608-36F8-A816-52BF59C6834C}"/>
              </a:ext>
            </a:extLst>
          </p:cNvPr>
          <p:cNvSpPr/>
          <p:nvPr userDrawn="1"/>
        </p:nvSpPr>
        <p:spPr>
          <a:xfrm>
            <a:off x="444500" y="6554454"/>
            <a:ext cx="9543009" cy="13243"/>
          </a:xfrm>
          <a:prstGeom prst="rect">
            <a:avLst/>
          </a:prstGeom>
          <a:solidFill>
            <a:srgbClr val="538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EA541CB-62F5-40F5-9695-A4FD85EE09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417"/>
          <a:stretch/>
        </p:blipFill>
        <p:spPr>
          <a:xfrm>
            <a:off x="94383" y="6470430"/>
            <a:ext cx="290573" cy="325709"/>
          </a:xfrm>
          <a:prstGeom prst="rect">
            <a:avLst/>
          </a:prstGeom>
        </p:spPr>
      </p:pic>
      <p:sp>
        <p:nvSpPr>
          <p:cNvPr id="14" name="바닥글 개체 틀 13">
            <a:extLst>
              <a:ext uri="{FF2B5EF4-FFF2-40B4-BE49-F238E27FC236}">
                <a16:creationId xmlns:a16="http://schemas.microsoft.com/office/drawing/2014/main" id="{2DF6C350-1DEA-8AB7-F2B2-C3D62DA00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500" y="6569425"/>
            <a:ext cx="2726571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77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ko-KR" dirty="0">
                <a:solidFill>
                  <a:prstClr val="black"/>
                </a:solidFill>
              </a:rPr>
              <a:t>Citation for references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97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0" r:id="rId2"/>
    <p:sldLayoutId id="2147483712" r:id="rId3"/>
    <p:sldLayoutId id="2147483713" r:id="rId4"/>
    <p:sldLayoutId id="2147483714" r:id="rId5"/>
    <p:sldLayoutId id="2147483715" r:id="rId6"/>
  </p:sldLayoutIdLst>
  <p:hf sldNum="0" hdr="0" ftr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D400F-44EB-7676-1B08-8410B6F0F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98662"/>
            <a:ext cx="7697788" cy="2852737"/>
          </a:xfrm>
        </p:spPr>
        <p:txBody>
          <a:bodyPr/>
          <a:lstStyle/>
          <a:p>
            <a:r>
              <a:rPr lang="en-US" altLang="ko-KR" dirty="0"/>
              <a:t>OSL Scripts</a:t>
            </a:r>
            <a:br>
              <a:rPr lang="en-US" altLang="ko-KR" dirty="0"/>
            </a:br>
            <a:r>
              <a:rPr lang="ko-KR" altLang="en-US" dirty="0"/>
              <a:t>사용 메뉴얼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9F4BC-ED0C-3C66-2311-2E25A7B3D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pPr marL="0" indent="0" algn="r">
              <a:buNone/>
            </a:pPr>
            <a:r>
              <a:rPr lang="ko-KR" altLang="en-US" dirty="0"/>
              <a:t>제작자</a:t>
            </a:r>
            <a:r>
              <a:rPr lang="en-US" altLang="ko-KR" dirty="0"/>
              <a:t>: </a:t>
            </a:r>
            <a:r>
              <a:rPr lang="ko-KR" altLang="en-US" dirty="0"/>
              <a:t>윤태웅 </a:t>
            </a:r>
            <a:r>
              <a:rPr lang="en-US" altLang="ko-KR" dirty="0"/>
              <a:t>010-2590-3489</a:t>
            </a:r>
          </a:p>
          <a:p>
            <a:pPr marL="0" indent="0" algn="r">
              <a:buNone/>
            </a:pPr>
            <a:r>
              <a:rPr lang="ko-KR" altLang="en-US" dirty="0"/>
              <a:t>코드 및 매뉴얼 유출 절대 금지</a:t>
            </a:r>
            <a:endParaRPr lang="en-US" altLang="ko-KR" dirty="0"/>
          </a:p>
          <a:p>
            <a:pPr marL="0" indent="0" algn="r">
              <a:buNone/>
            </a:pPr>
            <a:r>
              <a:rPr lang="ko-KR" altLang="en-US" dirty="0"/>
              <a:t>스크립트는 제작자에게 문의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A43BB6-A484-BE96-5E72-C680DEC1B7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2392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68BB1-9EDF-3A9A-1824-D11CC29A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Origin – Plot legend</a:t>
            </a:r>
            <a:r>
              <a:rPr lang="ko-KR" altLang="en-US" dirty="0"/>
              <a:t>에 </a:t>
            </a:r>
            <a:r>
              <a:rPr lang="en-US" altLang="ko-KR" dirty="0"/>
              <a:t>comment </a:t>
            </a:r>
            <a:r>
              <a:rPr lang="ko-KR" altLang="en-US" dirty="0"/>
              <a:t>표기법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CA2A8D-2434-DAD6-19C1-7928429F8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legend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우클릭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Properties…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Plot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legend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%(n)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%(n, @LC)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변경</a:t>
            </a:r>
            <a:endParaRPr lang="ko-KR" altLang="en-US" sz="16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09CDC8-04B5-E55E-37F2-CF0B1D2310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D77355-E80E-2C6B-4CAF-BC4778A7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71" y="1672520"/>
            <a:ext cx="3460928" cy="6477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D844A5B-97DC-90A1-FB78-72BEBBAD2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45" y="1494712"/>
            <a:ext cx="1511378" cy="8255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6317CD0-DEAA-F8F3-5DA8-949DEC791B5A}"/>
              </a:ext>
            </a:extLst>
          </p:cNvPr>
          <p:cNvCxnSpPr/>
          <p:nvPr/>
        </p:nvCxnSpPr>
        <p:spPr>
          <a:xfrm flipV="1">
            <a:off x="6871773" y="1751798"/>
            <a:ext cx="934315" cy="4716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C1AF505-D303-39F8-F13E-E0A234385C88}"/>
              </a:ext>
            </a:extLst>
          </p:cNvPr>
          <p:cNvGrpSpPr/>
          <p:nvPr/>
        </p:nvGrpSpPr>
        <p:grpSpPr>
          <a:xfrm>
            <a:off x="384120" y="2640539"/>
            <a:ext cx="8375760" cy="3519237"/>
            <a:chOff x="384120" y="2640539"/>
            <a:chExt cx="8375760" cy="351923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AA51212-769A-4CB3-7A2C-70BDA808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120" y="2640539"/>
              <a:ext cx="3776213" cy="351923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5C8CD70-DA32-A3E8-DBB8-DD26D80DE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3667" y="2640539"/>
              <a:ext cx="3776213" cy="3519237"/>
            </a:xfrm>
            <a:prstGeom prst="rect">
              <a:avLst/>
            </a:prstGeom>
          </p:spPr>
        </p:pic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BB224631-F60F-0BDC-5C6C-90AFAACA6098}"/>
                </a:ext>
              </a:extLst>
            </p:cNvPr>
            <p:cNvSpPr/>
            <p:nvPr/>
          </p:nvSpPr>
          <p:spPr>
            <a:xfrm>
              <a:off x="4328014" y="4221832"/>
              <a:ext cx="487971" cy="31763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585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92C60-9FDC-6734-2208-BBB99EAB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</a:t>
            </a:r>
            <a:r>
              <a:rPr lang="ko-KR" altLang="en-US" dirty="0"/>
              <a:t> 모듈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0EAFE-7D45-974D-49B5-CBFB2169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dirty="0"/>
              <a:t>파이썬 설치 후</a:t>
            </a:r>
            <a:r>
              <a:rPr lang="en-US" altLang="ko-KR" sz="1600" dirty="0"/>
              <a:t> IDLE </a:t>
            </a:r>
            <a:r>
              <a:rPr lang="ko-KR" altLang="en-US" sz="1600" dirty="0"/>
              <a:t>실행</a:t>
            </a:r>
            <a:endParaRPr lang="en-US" altLang="ko-KR" sz="16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/>
              <a:t>오른쪽 명령 순서대로 실행</a:t>
            </a:r>
            <a:endParaRPr lang="en-US" altLang="ko-KR" sz="1600" dirty="0"/>
          </a:p>
          <a:p>
            <a:pPr lvl="1"/>
            <a:r>
              <a:rPr lang="en-US" altLang="ko-KR" sz="1500" dirty="0"/>
              <a:t>import </a:t>
            </a:r>
            <a:r>
              <a:rPr lang="en-US" altLang="ko-KR" sz="1500" dirty="0" err="1"/>
              <a:t>os</a:t>
            </a:r>
            <a:endParaRPr lang="en-US" altLang="ko-KR" sz="1500" dirty="0"/>
          </a:p>
          <a:p>
            <a:pPr lvl="1"/>
            <a:r>
              <a:rPr lang="en-US" altLang="ko-KR" sz="1500" dirty="0" err="1"/>
              <a:t>os.getcwd</a:t>
            </a:r>
            <a:r>
              <a:rPr lang="en-US" altLang="ko-KR" sz="1500" dirty="0"/>
              <a:t>()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600" dirty="0">
                <a:solidFill>
                  <a:srgbClr val="4220FF"/>
                </a:solidFill>
              </a:rPr>
              <a:t>출력된</a:t>
            </a:r>
            <a:r>
              <a:rPr lang="en-US" altLang="ko-KR" sz="1600" dirty="0">
                <a:solidFill>
                  <a:srgbClr val="4220FF"/>
                </a:solidFill>
              </a:rPr>
              <a:t> </a:t>
            </a:r>
            <a:r>
              <a:rPr lang="ko-KR" altLang="en-US" sz="1600" dirty="0">
                <a:solidFill>
                  <a:srgbClr val="4220FF"/>
                </a:solidFill>
              </a:rPr>
              <a:t>경로 </a:t>
            </a:r>
            <a:r>
              <a:rPr lang="ko-KR" altLang="en-US" sz="1600" dirty="0"/>
              <a:t>복사 </a:t>
            </a:r>
            <a:r>
              <a:rPr lang="en-US" altLang="ko-KR" sz="1600" dirty="0"/>
              <a:t>(ctrl + C)</a:t>
            </a:r>
          </a:p>
          <a:p>
            <a:pPr marL="228600" indent="-228600">
              <a:buFont typeface="+mj-lt"/>
              <a:buAutoNum type="arabicPeriod"/>
            </a:pPr>
            <a:endParaRPr lang="en-US" altLang="ko-KR" sz="16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1600" dirty="0" err="1"/>
              <a:t>cmd</a:t>
            </a:r>
            <a:r>
              <a:rPr lang="en-US" altLang="ko-KR" sz="1600" dirty="0"/>
              <a:t> </a:t>
            </a:r>
            <a:r>
              <a:rPr lang="ko-KR" altLang="en-US" sz="1600" dirty="0"/>
              <a:t>실행</a:t>
            </a:r>
            <a:endParaRPr lang="en-US" altLang="ko-KR" sz="1600" dirty="0"/>
          </a:p>
          <a:p>
            <a:pPr lvl="1"/>
            <a:r>
              <a:rPr lang="en-US" altLang="ko-KR" sz="1500" dirty="0"/>
              <a:t>win + R </a:t>
            </a:r>
            <a:r>
              <a:rPr lang="ko-KR" altLang="en-US" sz="1500" dirty="0"/>
              <a:t>누르고 </a:t>
            </a:r>
            <a:r>
              <a:rPr lang="en-US" altLang="ko-KR" sz="1500" dirty="0" err="1"/>
              <a:t>cmd</a:t>
            </a:r>
            <a:r>
              <a:rPr lang="en-US" altLang="ko-KR" sz="1500" dirty="0"/>
              <a:t> </a:t>
            </a:r>
            <a:r>
              <a:rPr lang="ko-KR" altLang="en-US" sz="1500" dirty="0"/>
              <a:t>입력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엔터</a:t>
            </a:r>
            <a:endParaRPr lang="en-US" altLang="ko-KR" sz="1500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sz="1600" dirty="0"/>
              <a:t>cd _____(3</a:t>
            </a:r>
            <a:r>
              <a:rPr lang="ko-KR" altLang="en-US" sz="1600" dirty="0"/>
              <a:t>의 경로</a:t>
            </a:r>
            <a:r>
              <a:rPr lang="en-US" altLang="ko-KR" sz="1600" dirty="0"/>
              <a:t>)_______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600" dirty="0"/>
              <a:t>cd</a:t>
            </a:r>
            <a:r>
              <a:rPr lang="ko-KR" altLang="en-US" sz="1600" dirty="0"/>
              <a:t> </a:t>
            </a:r>
            <a:r>
              <a:rPr lang="en-US" altLang="ko-KR" sz="1600" dirty="0"/>
              <a:t>script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600" dirty="0"/>
              <a:t>pip install ____(</a:t>
            </a:r>
            <a:r>
              <a:rPr lang="ko-KR" altLang="en-US" sz="1600" dirty="0"/>
              <a:t>모듈 이름</a:t>
            </a:r>
            <a:r>
              <a:rPr lang="en-US" altLang="ko-KR" sz="1600" dirty="0"/>
              <a:t>)_____</a:t>
            </a:r>
            <a:endParaRPr lang="ko-KR" altLang="en-US" sz="16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01385F-4ABA-2DC8-BBE3-3ED9A17FB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2B6C3E-1EA1-9BD6-130E-A374F1B6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285" y="673239"/>
            <a:ext cx="5161550" cy="15148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18AAB7-87DA-3231-775B-BCC9631CD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285" y="2562170"/>
            <a:ext cx="5161550" cy="1352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E99D7-B335-7843-3FE6-26E07341E849}"/>
              </a:ext>
            </a:extLst>
          </p:cNvPr>
          <p:cNvSpPr txBox="1"/>
          <p:nvPr/>
        </p:nvSpPr>
        <p:spPr>
          <a:xfrm>
            <a:off x="2087987" y="4853031"/>
            <a:ext cx="496802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/>
              <a:t>각 </a:t>
            </a:r>
            <a:r>
              <a:rPr lang="en-US" altLang="ko-KR" sz="2000" b="1" dirty="0"/>
              <a:t>script</a:t>
            </a:r>
            <a:r>
              <a:rPr lang="ko-KR" altLang="en-US" sz="2000" b="1" dirty="0"/>
              <a:t>마다 필요한 </a:t>
            </a:r>
            <a:r>
              <a:rPr lang="en-US" altLang="ko-KR" sz="2000" b="1" dirty="0"/>
              <a:t>module</a:t>
            </a:r>
            <a:r>
              <a:rPr lang="ko-KR" altLang="en-US" sz="2000" b="1" dirty="0"/>
              <a:t>이 다릅니다</a:t>
            </a:r>
            <a:r>
              <a:rPr lang="en-US" altLang="ko-KR" sz="2000" b="1" dirty="0"/>
              <a:t>.</a:t>
            </a:r>
          </a:p>
          <a:p>
            <a:pPr algn="ctr"/>
            <a:r>
              <a:rPr lang="ko-KR" altLang="en-US" sz="2000" b="1" dirty="0"/>
              <a:t>페이지의 안내에 따라주세요</a:t>
            </a:r>
          </a:p>
        </p:txBody>
      </p:sp>
    </p:spTree>
    <p:extLst>
      <p:ext uri="{BB962C8B-B14F-4D97-AF65-F5344CB8AC3E}">
        <p14:creationId xmlns:p14="http://schemas.microsoft.com/office/powerpoint/2010/main" val="4603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04CF6-065E-AAD8-F06A-A4B15A41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6B77EE-9C10-7026-B34D-6966500C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GIWAXS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900" dirty="0"/>
              <a:t>Python </a:t>
            </a:r>
            <a:r>
              <a:rPr lang="ko-KR" altLang="en-US" sz="1900" dirty="0"/>
              <a:t>파일 </a:t>
            </a:r>
            <a:r>
              <a:rPr lang="en-US" altLang="ko-KR" sz="1900" dirty="0"/>
              <a:t>(for p-GIXS)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900" dirty="0"/>
              <a:t>Origin script </a:t>
            </a:r>
            <a:r>
              <a:rPr lang="ko-KR" altLang="en-US" sz="1900" dirty="0"/>
              <a:t>파일 </a:t>
            </a:r>
            <a:r>
              <a:rPr lang="en-US" altLang="ko-KR" sz="1900" dirty="0"/>
              <a:t>(.txt)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900" dirty="0"/>
              <a:t>Origin plot template </a:t>
            </a:r>
            <a:r>
              <a:rPr lang="ko-KR" altLang="en-US" sz="1900" dirty="0"/>
              <a:t>파일 </a:t>
            </a:r>
            <a:r>
              <a:rPr lang="en-US" altLang="ko-KR" sz="1900" dirty="0"/>
              <a:t>(.</a:t>
            </a:r>
            <a:r>
              <a:rPr lang="en-US" altLang="ko-KR" sz="1900" dirty="0" err="1"/>
              <a:t>otpu</a:t>
            </a:r>
            <a:r>
              <a:rPr lang="en-US" altLang="ko-KR" sz="1900" dirty="0"/>
              <a:t>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979DBE-B4F0-FD5B-2A8C-ABC34D67B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45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29430-EA43-3316-2D2F-09FA184F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GIWAXS</a:t>
            </a:r>
            <a:r>
              <a:rPr lang="ko-KR" altLang="en-US" dirty="0"/>
              <a:t> </a:t>
            </a:r>
            <a:r>
              <a:rPr lang="en-US" altLang="ko-KR" dirty="0"/>
              <a:t>– Python </a:t>
            </a:r>
            <a:r>
              <a:rPr lang="ko-KR" altLang="en-US" dirty="0"/>
              <a:t>파일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52154-C016-F64D-D689-240D66085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09" y="587415"/>
            <a:ext cx="8815526" cy="5683169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여러 폴더로 나뉜 한 </a:t>
            </a:r>
            <a:r>
              <a:rPr lang="en-US" altLang="ko-KR" sz="1600" dirty="0"/>
              <a:t>set</a:t>
            </a:r>
            <a:r>
              <a:rPr lang="ko-KR" altLang="en-US" sz="1600" dirty="0"/>
              <a:t>의 데이터를 하나의 </a:t>
            </a:r>
            <a:r>
              <a:rPr lang="en-US" altLang="ko-KR" sz="1600" dirty="0"/>
              <a:t>.xlsx </a:t>
            </a:r>
            <a:r>
              <a:rPr lang="ko-KR" altLang="en-US" sz="1600" dirty="0"/>
              <a:t>파일로 합쳐 줌</a:t>
            </a:r>
            <a:endParaRPr lang="en-US" altLang="ko-KR" sz="1600" dirty="0"/>
          </a:p>
          <a:p>
            <a:pPr lvl="1"/>
            <a:r>
              <a:rPr lang="en-US" altLang="ko-KR" sz="1500" dirty="0"/>
              <a:t>p-GIXS (</a:t>
            </a:r>
            <a:r>
              <a:rPr lang="ko-KR" altLang="en-US" sz="1500" dirty="0"/>
              <a:t>김영용 매니저</a:t>
            </a:r>
            <a:r>
              <a:rPr lang="en-US" altLang="ko-KR" sz="1500" dirty="0"/>
              <a:t>) </a:t>
            </a:r>
            <a:r>
              <a:rPr lang="ko-KR" altLang="en-US" sz="1500" dirty="0"/>
              <a:t>사용해서 추출한 데이터에만 적용 가능</a:t>
            </a:r>
            <a:endParaRPr lang="en-US" altLang="ko-KR" sz="1500" dirty="0"/>
          </a:p>
          <a:p>
            <a:pPr lvl="1"/>
            <a:r>
              <a:rPr lang="en-US" altLang="ko-KR" sz="1500" dirty="0"/>
              <a:t>Plot</a:t>
            </a:r>
            <a:r>
              <a:rPr lang="ko-KR" altLang="en-US" sz="1500" dirty="0"/>
              <a:t>을 </a:t>
            </a:r>
            <a:r>
              <a:rPr lang="ko-KR" altLang="en-US" sz="1800" b="1" dirty="0">
                <a:solidFill>
                  <a:srgbClr val="FF0000"/>
                </a:solidFill>
              </a:rPr>
              <a:t>반드시 </a:t>
            </a:r>
            <a:r>
              <a:rPr lang="en-US" altLang="ko-KR" sz="1800" b="1" dirty="0">
                <a:solidFill>
                  <a:srgbClr val="FF0000"/>
                </a:solidFill>
              </a:rPr>
              <a:t>.csv</a:t>
            </a:r>
            <a:r>
              <a:rPr lang="ko-KR" altLang="en-US" sz="1800" b="1" dirty="0">
                <a:solidFill>
                  <a:srgbClr val="FF0000"/>
                </a:solidFill>
              </a:rPr>
              <a:t>파일로 저장</a:t>
            </a:r>
            <a:r>
              <a:rPr lang="ko-KR" altLang="en-US" sz="1500" dirty="0"/>
              <a:t>할 것</a:t>
            </a:r>
            <a:endParaRPr lang="en-US" altLang="ko-KR" sz="1500" dirty="0"/>
          </a:p>
          <a:p>
            <a:pPr lvl="1"/>
            <a:endParaRPr lang="en-US" altLang="ko-KR" sz="1500" dirty="0"/>
          </a:p>
          <a:p>
            <a:r>
              <a:rPr lang="ko-KR" altLang="en-US" sz="1600" dirty="0"/>
              <a:t>필요 사항</a:t>
            </a:r>
            <a:endParaRPr lang="en-US" altLang="ko-KR" sz="1600" dirty="0"/>
          </a:p>
          <a:p>
            <a:pPr lvl="1"/>
            <a:r>
              <a:rPr lang="en-US" altLang="ko-KR" sz="1600" dirty="0"/>
              <a:t>Python:</a:t>
            </a:r>
            <a:r>
              <a:rPr lang="ko-KR" altLang="en-US" sz="1600" dirty="0"/>
              <a:t> </a:t>
            </a:r>
            <a:r>
              <a:rPr lang="en-US" altLang="ko-KR" sz="1600" dirty="0">
                <a:hlinkClick r:id="rId2"/>
              </a:rPr>
              <a:t>https://www.python.org/downloads/</a:t>
            </a:r>
            <a:endParaRPr lang="en-US" altLang="ko-KR" sz="1600" dirty="0"/>
          </a:p>
          <a:p>
            <a:pPr lvl="1"/>
            <a:r>
              <a:rPr lang="en-US" altLang="ko-KR" sz="1800" dirty="0"/>
              <a:t>Python module: </a:t>
            </a:r>
            <a:r>
              <a:rPr lang="en-US" altLang="ko-KR" sz="1800" dirty="0" err="1"/>
              <a:t>openpyxl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결과물</a:t>
            </a:r>
            <a:endParaRPr lang="en-US" altLang="ko-KR" sz="1800" dirty="0"/>
          </a:p>
          <a:p>
            <a:pPr lvl="1"/>
            <a:r>
              <a:rPr lang="en-US" altLang="ko-KR" sz="1700" dirty="0"/>
              <a:t>1D-plot </a:t>
            </a:r>
            <a:r>
              <a:rPr lang="ko-KR" altLang="en-US" sz="1700" dirty="0"/>
              <a:t>파일명과 시트명이 정리된 시트</a:t>
            </a:r>
            <a:endParaRPr lang="en-US" altLang="ko-KR" sz="1700" dirty="0"/>
          </a:p>
          <a:p>
            <a:pPr lvl="1"/>
            <a:r>
              <a:rPr lang="ko-KR" altLang="en-US" sz="1700" dirty="0"/>
              <a:t>내가 입력한 </a:t>
            </a:r>
            <a:r>
              <a:rPr lang="en-US" altLang="ko-KR" sz="1700" dirty="0" err="1"/>
              <a:t>SheetName</a:t>
            </a:r>
            <a:r>
              <a:rPr lang="ko-KR" altLang="en-US" sz="1700" dirty="0"/>
              <a:t>으로</a:t>
            </a:r>
            <a:r>
              <a:rPr lang="en-US" altLang="ko-KR" sz="1700" dirty="0"/>
              <a:t> </a:t>
            </a:r>
            <a:r>
              <a:rPr lang="ko-KR" altLang="en-US" sz="1700" dirty="0"/>
              <a:t>된 시트들</a:t>
            </a:r>
            <a:endParaRPr lang="en-US" altLang="ko-KR" sz="17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1800" dirty="0"/>
              <a:t>한 </a:t>
            </a:r>
            <a:r>
              <a:rPr lang="en-US" altLang="ko-KR" sz="1800" dirty="0"/>
              <a:t>set</a:t>
            </a:r>
            <a:r>
              <a:rPr lang="ko-KR" altLang="en-US" sz="1800" dirty="0"/>
              <a:t>인 데이터 </a:t>
            </a:r>
            <a:r>
              <a:rPr lang="en-US" altLang="ko-KR" sz="1800" b="1" dirty="0">
                <a:solidFill>
                  <a:srgbClr val="FF0000"/>
                </a:solidFill>
              </a:rPr>
              <a:t>.</a:t>
            </a:r>
            <a:r>
              <a:rPr lang="en-US" altLang="ko-KR" sz="1800" b="1" dirty="0" err="1">
                <a:solidFill>
                  <a:srgbClr val="FF0000"/>
                </a:solidFill>
              </a:rPr>
              <a:t>tif</a:t>
            </a:r>
            <a:r>
              <a:rPr lang="en-US" altLang="ko-KR" sz="1800" b="1" dirty="0">
                <a:solidFill>
                  <a:srgbClr val="FF0000"/>
                </a:solidFill>
              </a:rPr>
              <a:t> </a:t>
            </a:r>
            <a:r>
              <a:rPr lang="ko-KR" altLang="en-US" sz="1800" b="1" dirty="0">
                <a:solidFill>
                  <a:srgbClr val="FF0000"/>
                </a:solidFill>
              </a:rPr>
              <a:t>파일과 </a:t>
            </a:r>
            <a:r>
              <a:rPr lang="en-US" altLang="ko-KR" sz="1800" b="1" dirty="0">
                <a:solidFill>
                  <a:srgbClr val="FF0000"/>
                </a:solidFill>
              </a:rPr>
              <a:t>1D-plot </a:t>
            </a:r>
            <a:r>
              <a:rPr lang="ko-KR" altLang="en-US" sz="1800" b="1" dirty="0">
                <a:solidFill>
                  <a:srgbClr val="FF0000"/>
                </a:solidFill>
              </a:rPr>
              <a:t>폴더가 있는 곳</a:t>
            </a:r>
            <a:r>
              <a:rPr lang="ko-KR" altLang="en-US" sz="1800" dirty="0"/>
              <a:t>에 </a:t>
            </a:r>
            <a:r>
              <a:rPr lang="en-US" altLang="ko-KR" sz="1800" dirty="0"/>
              <a:t>Python </a:t>
            </a:r>
            <a:r>
              <a:rPr lang="ko-KR" altLang="en-US" sz="1800" dirty="0"/>
              <a:t>파일을 놓기</a:t>
            </a:r>
            <a:endParaRPr lang="en-US" altLang="ko-KR" sz="18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1800" dirty="0"/>
              <a:t>실행 </a:t>
            </a:r>
            <a:r>
              <a:rPr lang="en-US" altLang="ko-KR" sz="1800" dirty="0"/>
              <a:t>(</a:t>
            </a:r>
            <a:r>
              <a:rPr lang="ko-KR" altLang="en-US" sz="1800" dirty="0"/>
              <a:t>더블클릭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700" b="1" dirty="0"/>
              <a:t>창을 최대화할 것</a:t>
            </a:r>
            <a:endParaRPr lang="en-US" altLang="ko-KR" sz="1700" b="1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396681-98D6-1EED-7180-23634B80E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B78860-9B88-A0DA-534B-F68799EF642C}"/>
              </a:ext>
            </a:extLst>
          </p:cNvPr>
          <p:cNvGrpSpPr/>
          <p:nvPr/>
        </p:nvGrpSpPr>
        <p:grpSpPr>
          <a:xfrm>
            <a:off x="5409398" y="1267150"/>
            <a:ext cx="3400875" cy="3397672"/>
            <a:chOff x="5845872" y="3429000"/>
            <a:chExt cx="2981178" cy="297837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A7391AB-B332-9C56-8B9D-60651FAD3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3496" y="3429000"/>
              <a:ext cx="1883554" cy="297837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DEC0717-940C-446B-4FF4-3B4660D58EAE}"/>
                </a:ext>
              </a:extLst>
            </p:cNvPr>
            <p:cNvSpPr/>
            <p:nvPr/>
          </p:nvSpPr>
          <p:spPr>
            <a:xfrm>
              <a:off x="6943496" y="4705635"/>
              <a:ext cx="1883554" cy="1941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48FAE3C-F06E-9B92-836C-7F6DD67E8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63436" y="3429000"/>
              <a:ext cx="847756" cy="579629"/>
            </a:xfrm>
            <a:prstGeom prst="rect">
              <a:avLst/>
            </a:prstGeom>
          </p:spPr>
        </p:pic>
        <p:sp>
          <p:nvSpPr>
            <p:cNvPr id="11" name="왼쪽 중괄호 10">
              <a:extLst>
                <a:ext uri="{FF2B5EF4-FFF2-40B4-BE49-F238E27FC236}">
                  <a16:creationId xmlns:a16="http://schemas.microsoft.com/office/drawing/2014/main" id="{6BA411F5-D3AB-9326-EDFE-CF6EC57613E0}"/>
                </a:ext>
              </a:extLst>
            </p:cNvPr>
            <p:cNvSpPr/>
            <p:nvPr/>
          </p:nvSpPr>
          <p:spPr>
            <a:xfrm>
              <a:off x="6724564" y="3596890"/>
              <a:ext cx="218932" cy="2781115"/>
            </a:xfrm>
            <a:prstGeom prst="leftBrace">
              <a:avLst>
                <a:gd name="adj1" fmla="val 38674"/>
                <a:gd name="adj2" fmla="val 10473"/>
              </a:avLst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5828063-D80A-DF6F-461B-20F518A9C51E}"/>
                </a:ext>
              </a:extLst>
            </p:cNvPr>
            <p:cNvSpPr/>
            <p:nvPr/>
          </p:nvSpPr>
          <p:spPr>
            <a:xfrm>
              <a:off x="5845872" y="3799904"/>
              <a:ext cx="878692" cy="194125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360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492406-3B15-AAF6-BB85-48575E7AC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35" y="589660"/>
            <a:ext cx="8880000" cy="612496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sz="1400" dirty="0">
                <a:latin typeface="+mn-ea"/>
              </a:rPr>
              <a:t>원하는 </a:t>
            </a:r>
            <a:r>
              <a:rPr lang="en-US" altLang="ko-KR" sz="1400" dirty="0">
                <a:latin typeface="+mn-ea"/>
              </a:rPr>
              <a:t>.xlsx </a:t>
            </a:r>
            <a:r>
              <a:rPr lang="ko-KR" altLang="en-US" sz="1400" dirty="0">
                <a:latin typeface="+mn-ea"/>
              </a:rPr>
              <a:t>파일명 입력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엔터</a:t>
            </a:r>
            <a:endParaRPr lang="en-US" altLang="ko-KR" sz="1400" dirty="0">
              <a:latin typeface="+mn-ea"/>
            </a:endParaRPr>
          </a:p>
          <a:p>
            <a:pPr marL="538163" lvl="1" indent="-227013"/>
            <a:r>
              <a:rPr lang="ko-KR" altLang="en-US" sz="1400" dirty="0">
                <a:latin typeface="+mn-ea"/>
              </a:rPr>
              <a:t>확장자 </a:t>
            </a:r>
            <a:r>
              <a:rPr lang="en-US" altLang="ko-KR" sz="1400" dirty="0">
                <a:latin typeface="+mn-ea"/>
              </a:rPr>
              <a:t>(.xlsx) </a:t>
            </a:r>
            <a:r>
              <a:rPr lang="ko-KR" altLang="en-US" sz="1400" dirty="0">
                <a:latin typeface="+mn-ea"/>
              </a:rPr>
              <a:t>제외하고 입력</a:t>
            </a:r>
            <a:r>
              <a:rPr lang="en-US" altLang="ko-KR" sz="1400" dirty="0">
                <a:latin typeface="+mn-ea"/>
              </a:rPr>
              <a:t>! (/ \ ~ </a:t>
            </a:r>
            <a:r>
              <a:rPr lang="ko-KR" altLang="en-US" sz="1400" dirty="0">
                <a:latin typeface="+mn-ea"/>
              </a:rPr>
              <a:t>등 사용 불가</a:t>
            </a:r>
            <a:r>
              <a:rPr lang="en-US" altLang="ko-KR" sz="1400" dirty="0">
                <a:latin typeface="+mn-ea"/>
              </a:rPr>
              <a:t>) (_ . , </a:t>
            </a:r>
            <a:r>
              <a:rPr lang="ko-KR" altLang="en-US" sz="1400" dirty="0">
                <a:latin typeface="+mn-ea"/>
              </a:rPr>
              <a:t>사용 가능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269875" indent="-269875">
              <a:buFont typeface="+mj-lt"/>
              <a:buAutoNum type="arabicPeriod" startAt="3"/>
            </a:pPr>
            <a:r>
              <a:rPr lang="en-US" altLang="ko-KR" sz="1400" dirty="0">
                <a:latin typeface="+mn-ea"/>
              </a:rPr>
              <a:t>1D-plot</a:t>
            </a:r>
            <a:r>
              <a:rPr lang="ko-KR" altLang="en-US" sz="1400" dirty="0">
                <a:latin typeface="+mn-ea"/>
              </a:rPr>
              <a:t> 마다 원하는 </a:t>
            </a:r>
            <a:r>
              <a:rPr lang="ko-KR" altLang="en-US" sz="1400" dirty="0" err="1">
                <a:latin typeface="+mn-ea"/>
              </a:rPr>
              <a:t>시트명</a:t>
            </a:r>
            <a:r>
              <a:rPr lang="ko-KR" altLang="en-US" sz="1400" dirty="0">
                <a:latin typeface="+mn-ea"/>
              </a:rPr>
              <a:t> 입력</a:t>
            </a:r>
            <a:r>
              <a:rPr lang="en-US" altLang="ko-KR" sz="1400" dirty="0">
                <a:latin typeface="+mn-ea"/>
              </a:rPr>
              <a:t>, Enter</a:t>
            </a:r>
          </a:p>
          <a:p>
            <a:pPr marL="538163" lvl="1" indent="-227013"/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시트명에 </a:t>
            </a:r>
            <a:r>
              <a:rPr lang="en-US" altLang="ko-KR" sz="1400" b="1" dirty="0" err="1">
                <a:solidFill>
                  <a:srgbClr val="FF0000"/>
                </a:solidFill>
                <a:latin typeface="+mn-ea"/>
              </a:rPr>
              <a:t>qxy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또는 </a:t>
            </a:r>
            <a:r>
              <a:rPr lang="en-US" altLang="ko-KR" sz="1400" b="1" dirty="0" err="1">
                <a:solidFill>
                  <a:srgbClr val="FF0000"/>
                </a:solidFill>
                <a:latin typeface="+mn-ea"/>
              </a:rPr>
              <a:t>qz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가 반드시 들어가야함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!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중간에 들어가도 상관없음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 marL="538163" lvl="1" indent="-227013"/>
            <a:r>
              <a:rPr lang="ko-KR" altLang="en-US" sz="1400" dirty="0">
                <a:latin typeface="+mn-ea"/>
              </a:rPr>
              <a:t>시트명은 </a:t>
            </a:r>
            <a:r>
              <a:rPr lang="en-US" altLang="ko-KR" sz="1400" b="1" dirty="0">
                <a:latin typeface="+mn-ea"/>
              </a:rPr>
              <a:t>30</a:t>
            </a:r>
            <a:r>
              <a:rPr lang="ko-KR" altLang="en-US" sz="1400" b="1" dirty="0">
                <a:latin typeface="+mn-ea"/>
              </a:rPr>
              <a:t>자 이하여야 함</a:t>
            </a:r>
            <a:r>
              <a:rPr lang="en-US" altLang="ko-KR" sz="1400" dirty="0">
                <a:latin typeface="+mn-ea"/>
              </a:rPr>
              <a:t> (</a:t>
            </a:r>
            <a:r>
              <a:rPr lang="ko-KR" altLang="en-US" sz="1400" dirty="0">
                <a:latin typeface="+mn-ea"/>
              </a:rPr>
              <a:t>넘으면 다시 설정하라고 뜸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538163" lvl="1" indent="-227013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</a:rPr>
              <a:t>시트명이</a:t>
            </a:r>
            <a:r>
              <a:rPr lang="en-US" altLang="ko-KR" sz="1400" dirty="0">
                <a:latin typeface="+mn-ea"/>
              </a:rPr>
              <a:t> 30</a:t>
            </a:r>
            <a:r>
              <a:rPr lang="ko-KR" altLang="en-US" sz="1400" dirty="0">
                <a:latin typeface="+mn-ea"/>
              </a:rPr>
              <a:t>자가 넘어가는 경우</a:t>
            </a:r>
            <a:endParaRPr lang="en-US" altLang="ko-KR" sz="1400" dirty="0">
              <a:latin typeface="+mn-ea"/>
            </a:endParaRPr>
          </a:p>
          <a:p>
            <a:pPr marL="985838" lvl="2" indent="-227013">
              <a:tabLst>
                <a:tab pos="985838" algn="l"/>
              </a:tabLst>
            </a:pPr>
            <a:r>
              <a:rPr lang="ko-KR" altLang="en-US" sz="1200" dirty="0">
                <a:latin typeface="+mn-ea"/>
              </a:rPr>
              <a:t>곧바로 현재 글자수와 함께 수정하라고 뜸</a:t>
            </a:r>
            <a:endParaRPr lang="en-US" altLang="ko-KR" sz="1200" dirty="0">
              <a:latin typeface="+mn-ea"/>
            </a:endParaRPr>
          </a:p>
          <a:p>
            <a:pPr marL="985838" lvl="2" indent="-227013">
              <a:tabLst>
                <a:tab pos="985838" algn="l"/>
              </a:tabLst>
            </a:pPr>
            <a:r>
              <a:rPr lang="en-US" altLang="ko-KR" sz="1200" dirty="0">
                <a:latin typeface="+mn-ea"/>
              </a:rPr>
              <a:t>30</a:t>
            </a:r>
            <a:r>
              <a:rPr lang="ko-KR" altLang="en-US" sz="1200" dirty="0">
                <a:latin typeface="+mn-ea"/>
              </a:rPr>
              <a:t>자 이하로 다시 입력하고 </a:t>
            </a:r>
            <a:r>
              <a:rPr lang="en-US" altLang="ko-KR" sz="1200" dirty="0">
                <a:latin typeface="+mn-ea"/>
              </a:rPr>
              <a:t>Enter</a:t>
            </a:r>
            <a:endParaRPr lang="en-US" altLang="ko-KR" sz="1400" dirty="0">
              <a:latin typeface="+mn-ea"/>
            </a:endParaRPr>
          </a:p>
          <a:p>
            <a:pPr marL="538163" lvl="1" indent="-227013"/>
            <a:r>
              <a:rPr lang="ko-KR" altLang="en-US" sz="1400" b="1" dirty="0">
                <a:latin typeface="+mn-ea"/>
              </a:rPr>
              <a:t>기본값</a:t>
            </a:r>
            <a:r>
              <a:rPr lang="ko-KR" altLang="en-US" sz="1400" dirty="0">
                <a:latin typeface="+mn-ea"/>
              </a:rPr>
              <a:t>은 길이가 </a:t>
            </a:r>
            <a:r>
              <a:rPr lang="en-US" altLang="ko-KR" sz="1400" dirty="0">
                <a:latin typeface="+mn-ea"/>
              </a:rPr>
              <a:t>30</a:t>
            </a:r>
            <a:r>
              <a:rPr lang="ko-KR" altLang="en-US" sz="1400" dirty="0">
                <a:latin typeface="+mn-ea"/>
              </a:rPr>
              <a:t>자 이하가 되도록 </a:t>
            </a:r>
            <a:r>
              <a:rPr lang="ko-KR" altLang="en-US" sz="1400" b="1" u="sng" dirty="0">
                <a:latin typeface="+mn-ea"/>
              </a:rPr>
              <a:t>파일명의 앞부분과 </a:t>
            </a:r>
            <a:r>
              <a:rPr lang="en-US" altLang="ko-KR" sz="1400" b="1" u="sng" dirty="0">
                <a:latin typeface="+mn-ea"/>
              </a:rPr>
              <a:t>Q</a:t>
            </a:r>
            <a:r>
              <a:rPr lang="en-US" altLang="ko-KR" sz="1400" b="1" u="sng" baseline="-25000" dirty="0">
                <a:latin typeface="+mn-ea"/>
              </a:rPr>
              <a:t>xy</a:t>
            </a:r>
            <a:r>
              <a:rPr lang="en-US" altLang="ko-KR" sz="1400" b="1" u="sng" dirty="0">
                <a:latin typeface="+mn-ea"/>
              </a:rPr>
              <a:t>/Q</a:t>
            </a:r>
            <a:r>
              <a:rPr lang="en-US" altLang="ko-KR" sz="1400" b="1" u="sng" baseline="-25000" dirty="0">
                <a:latin typeface="+mn-ea"/>
              </a:rPr>
              <a:t>z</a:t>
            </a:r>
            <a:r>
              <a:rPr lang="ko-KR" altLang="en-US" sz="1400" u="sng" dirty="0">
                <a:latin typeface="+mn-ea"/>
              </a:rPr>
              <a:t>로 자동 구성</a:t>
            </a:r>
            <a:r>
              <a:rPr lang="ko-KR" altLang="en-US" sz="1400" dirty="0">
                <a:latin typeface="+mn-ea"/>
              </a:rPr>
              <a:t>됨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사용하려면 해당 파일에서 </a:t>
            </a:r>
            <a:r>
              <a:rPr lang="ko-KR" altLang="en-US" sz="1400" dirty="0" err="1">
                <a:latin typeface="+mn-ea"/>
              </a:rPr>
              <a:t>시트명</a:t>
            </a:r>
            <a:r>
              <a:rPr lang="ko-KR" altLang="en-US" sz="1400" dirty="0">
                <a:latin typeface="+mn-ea"/>
              </a:rPr>
              <a:t> 입력하지 않고 </a:t>
            </a:r>
            <a:r>
              <a:rPr lang="en-US" altLang="ko-KR" sz="1400" dirty="0">
                <a:latin typeface="+mn-ea"/>
              </a:rPr>
              <a:t>Enter </a:t>
            </a:r>
            <a:r>
              <a:rPr lang="ko-KR" altLang="en-US" sz="1400" dirty="0">
                <a:latin typeface="+mn-ea"/>
              </a:rPr>
              <a:t>누름</a:t>
            </a:r>
            <a:endParaRPr lang="en-US" altLang="ko-KR" sz="1400" dirty="0">
              <a:latin typeface="+mn-ea"/>
            </a:endParaRPr>
          </a:p>
          <a:p>
            <a:pPr marL="995351" lvl="2" indent="-227013"/>
            <a:r>
              <a:rPr lang="ko-KR" altLang="en-US" sz="1200" dirty="0">
                <a:latin typeface="+mn-ea"/>
              </a:rPr>
              <a:t>예시</a:t>
            </a:r>
            <a:r>
              <a:rPr lang="en-US" altLang="ko-KR" sz="1200" dirty="0">
                <a:latin typeface="+mn-ea"/>
              </a:rPr>
              <a:t>) MySample_DPPTT_0.02_...Qxy</a:t>
            </a:r>
          </a:p>
          <a:p>
            <a:pPr marL="538163" lvl="1" indent="-227013"/>
            <a:r>
              <a:rPr lang="ko-KR" altLang="en-US" sz="1400" dirty="0">
                <a:latin typeface="+mn-ea"/>
              </a:rPr>
              <a:t>잘못 입력한 경우 바꿀 수 있음</a:t>
            </a:r>
            <a:r>
              <a:rPr lang="en-US" altLang="ko-KR" sz="1400" dirty="0">
                <a:latin typeface="+mn-ea"/>
              </a:rPr>
              <a:t>. 5 </a:t>
            </a:r>
            <a:r>
              <a:rPr lang="ko-KR" altLang="en-US" sz="1400" dirty="0">
                <a:latin typeface="+mn-ea"/>
              </a:rPr>
              <a:t>참고</a:t>
            </a:r>
            <a:endParaRPr lang="en-US" altLang="ko-KR" sz="1400" dirty="0">
              <a:latin typeface="+mn-ea"/>
            </a:endParaRPr>
          </a:p>
          <a:p>
            <a:pPr marL="538163" lvl="1" indent="-227013"/>
            <a:r>
              <a:rPr lang="ko-KR" altLang="en-US" sz="1400" dirty="0">
                <a:latin typeface="+mn-ea"/>
              </a:rPr>
              <a:t>시트 이름이 서로 같으면 뒷번호 붙어서 저장됨</a:t>
            </a:r>
          </a:p>
          <a:p>
            <a:pPr marL="196861" indent="-342900">
              <a:buFont typeface="+mj-lt"/>
              <a:buAutoNum type="arabicPeriod" startAt="3"/>
            </a:pPr>
            <a:r>
              <a:rPr lang="ko-KR" altLang="en-US" sz="1400" dirty="0">
                <a:latin typeface="+mn-ea"/>
              </a:rPr>
              <a:t>모두 입력 후 </a:t>
            </a:r>
            <a:r>
              <a:rPr lang="ko-KR" altLang="en-US" sz="1400" dirty="0" err="1">
                <a:latin typeface="+mn-ea"/>
              </a:rPr>
              <a:t>시트명</a:t>
            </a:r>
            <a:r>
              <a:rPr lang="ko-KR" altLang="en-US" sz="1400" dirty="0">
                <a:latin typeface="+mn-ea"/>
              </a:rPr>
              <a:t> 수정하기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잘못 입력한 경우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등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449263" lvl="1" indent="-138113"/>
            <a:r>
              <a:rPr lang="ko-KR" altLang="en-US" sz="1300" dirty="0">
                <a:latin typeface="+mn-ea"/>
              </a:rPr>
              <a:t>다시 입력할 수 있는 기회가 주어집니다</a:t>
            </a:r>
            <a:r>
              <a:rPr lang="en-US" altLang="ko-KR" sz="1300" dirty="0">
                <a:latin typeface="+mn-ea"/>
              </a:rPr>
              <a:t>.</a:t>
            </a:r>
          </a:p>
          <a:p>
            <a:pPr marL="449263" lvl="1" indent="-138113"/>
            <a:r>
              <a:rPr lang="ko-KR" altLang="en-US" sz="1300" dirty="0">
                <a:latin typeface="+mn-ea"/>
              </a:rPr>
              <a:t>바꿀 것이 있느냐는 질문에 </a:t>
            </a:r>
            <a:r>
              <a:rPr lang="en-US" altLang="ko-KR" sz="1300" dirty="0">
                <a:latin typeface="+mn-ea"/>
              </a:rPr>
              <a:t>y</a:t>
            </a:r>
            <a:r>
              <a:rPr lang="ko-KR" altLang="en-US" sz="1300" dirty="0">
                <a:latin typeface="+mn-ea"/>
              </a:rPr>
              <a:t>를 입력한 후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바꾸고자 하는 파일들의 </a:t>
            </a:r>
            <a:r>
              <a:rPr lang="en-US" altLang="ko-KR" sz="1300" dirty="0">
                <a:latin typeface="+mn-ea"/>
              </a:rPr>
              <a:t>index</a:t>
            </a:r>
            <a:r>
              <a:rPr lang="ko-KR" altLang="en-US" sz="1300" dirty="0">
                <a:latin typeface="+mn-ea"/>
              </a:rPr>
              <a:t>를 </a:t>
            </a:r>
            <a:r>
              <a:rPr lang="en-US" altLang="ko-KR" sz="1300" dirty="0">
                <a:latin typeface="+mn-ea"/>
              </a:rPr>
              <a:t>‘,’</a:t>
            </a:r>
            <a:r>
              <a:rPr lang="ko-KR" altLang="en-US" sz="1300" dirty="0">
                <a:latin typeface="+mn-ea"/>
              </a:rPr>
              <a:t>로 구분하여 입력</a:t>
            </a:r>
            <a:endParaRPr lang="en-US" altLang="ko-KR" sz="1300" dirty="0">
              <a:latin typeface="+mn-ea"/>
            </a:endParaRPr>
          </a:p>
          <a:p>
            <a:pPr marL="1111238" lvl="2" indent="-342900"/>
            <a:r>
              <a:rPr lang="ko-KR" altLang="en-US" sz="1250" dirty="0">
                <a:latin typeface="+mn-ea"/>
              </a:rPr>
              <a:t>예시</a:t>
            </a:r>
            <a:r>
              <a:rPr lang="en-US" altLang="ko-KR" sz="1250" dirty="0">
                <a:latin typeface="+mn-ea"/>
              </a:rPr>
              <a:t>) 1, 3, 10</a:t>
            </a:r>
          </a:p>
          <a:p>
            <a:pPr marL="1111238" lvl="2" indent="-342900"/>
            <a:endParaRPr lang="en-US" altLang="ko-KR" sz="1250" dirty="0">
              <a:latin typeface="+mn-ea"/>
            </a:endParaRPr>
          </a:p>
          <a:p>
            <a:pPr marL="768338" lvl="2" indent="0">
              <a:buNone/>
            </a:pPr>
            <a:r>
              <a:rPr lang="en-US" altLang="ko-KR" sz="600" dirty="0">
                <a:latin typeface="+mn-ea"/>
              </a:rPr>
              <a:t> </a:t>
            </a:r>
            <a:endParaRPr lang="en-US" altLang="ko-KR" sz="1000" dirty="0">
              <a:latin typeface="+mn-ea"/>
            </a:endParaRPr>
          </a:p>
          <a:p>
            <a:pPr marL="449263" lvl="1" indent="-138113"/>
            <a:r>
              <a:rPr lang="ko-KR" altLang="en-US" sz="1300" dirty="0">
                <a:latin typeface="+mn-ea"/>
              </a:rPr>
              <a:t>파일명과 현재 시트명을 참고하여 새 이름 입력</a:t>
            </a:r>
            <a:endParaRPr lang="en-US" altLang="ko-KR" sz="1300" dirty="0">
              <a:latin typeface="+mn-ea"/>
            </a:endParaRPr>
          </a:p>
          <a:p>
            <a:pPr marL="449263" lvl="1" indent="-138113"/>
            <a:endParaRPr lang="en-US" altLang="ko-KR" sz="1300" dirty="0">
              <a:latin typeface="+mn-ea"/>
            </a:endParaRPr>
          </a:p>
          <a:p>
            <a:pPr marL="449263" lvl="1" indent="-138113"/>
            <a:endParaRPr lang="en-US" altLang="ko-KR" sz="1300" dirty="0">
              <a:latin typeface="+mn-ea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altLang="ko-KR" sz="1400" dirty="0">
                <a:latin typeface="+mn-ea"/>
              </a:rPr>
              <a:t>Press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Enter to exit </a:t>
            </a:r>
            <a:r>
              <a:rPr lang="ko-KR" altLang="en-US" sz="1400" dirty="0">
                <a:latin typeface="+mn-ea"/>
              </a:rPr>
              <a:t>나올 때까지 대기하면서 데이터 파일명과 </a:t>
            </a:r>
            <a:r>
              <a:rPr lang="ko-KR" altLang="en-US" sz="1400" dirty="0" err="1">
                <a:latin typeface="+mn-ea"/>
              </a:rPr>
              <a:t>시트명</a:t>
            </a:r>
            <a:r>
              <a:rPr lang="ko-KR" altLang="en-US" sz="1400" dirty="0">
                <a:latin typeface="+mn-ea"/>
              </a:rPr>
              <a:t> 확인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284A05-0D4B-A91E-BD69-F1FF5F3A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GIWAXS – Python </a:t>
            </a:r>
            <a:r>
              <a:rPr lang="ko-KR" altLang="en-US" dirty="0"/>
              <a:t>파일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8A10D9-521D-9094-8933-E9C370E01E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1E55AC9-E3AE-5291-14FA-090135255467}"/>
              </a:ext>
            </a:extLst>
          </p:cNvPr>
          <p:cNvGrpSpPr/>
          <p:nvPr/>
        </p:nvGrpSpPr>
        <p:grpSpPr>
          <a:xfrm>
            <a:off x="5772636" y="804771"/>
            <a:ext cx="3258642" cy="354780"/>
            <a:chOff x="5793079" y="652891"/>
            <a:chExt cx="3258642" cy="3547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769F3DE-076A-C36B-F84D-127C910CCB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0515" r="80087" b="75497"/>
            <a:stretch/>
          </p:blipFill>
          <p:spPr>
            <a:xfrm>
              <a:off x="5793079" y="652891"/>
              <a:ext cx="3258642" cy="35478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E9791F1-A904-6ECD-09D8-1B6BF6E60D27}"/>
                </a:ext>
              </a:extLst>
            </p:cNvPr>
            <p:cNvSpPr/>
            <p:nvPr/>
          </p:nvSpPr>
          <p:spPr>
            <a:xfrm>
              <a:off x="7033465" y="798513"/>
              <a:ext cx="317501" cy="1361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5AC6FDB-9242-F51E-E2A8-11859893DA49}"/>
              </a:ext>
            </a:extLst>
          </p:cNvPr>
          <p:cNvGrpSpPr/>
          <p:nvPr/>
        </p:nvGrpSpPr>
        <p:grpSpPr>
          <a:xfrm>
            <a:off x="4768383" y="2767001"/>
            <a:ext cx="4355807" cy="897318"/>
            <a:chOff x="4165050" y="2196185"/>
            <a:chExt cx="4886671" cy="100667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09F96B5-1E86-01B4-8618-42DA51CC73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4376" r="56279" b="59057"/>
            <a:stretch/>
          </p:blipFill>
          <p:spPr>
            <a:xfrm>
              <a:off x="4165050" y="2196185"/>
              <a:ext cx="4886671" cy="1006679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FC301EC-E4CC-4A0A-9C6B-58416D63B381}"/>
                </a:ext>
              </a:extLst>
            </p:cNvPr>
            <p:cNvSpPr/>
            <p:nvPr/>
          </p:nvSpPr>
          <p:spPr>
            <a:xfrm>
              <a:off x="7783715" y="2407470"/>
              <a:ext cx="1037309" cy="79539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836CF0-D0D4-482F-5494-9BBE110388C5}"/>
              </a:ext>
            </a:extLst>
          </p:cNvPr>
          <p:cNvGrpSpPr/>
          <p:nvPr/>
        </p:nvGrpSpPr>
        <p:grpSpPr>
          <a:xfrm>
            <a:off x="919076" y="4846057"/>
            <a:ext cx="3651759" cy="300952"/>
            <a:chOff x="5296932" y="3927475"/>
            <a:chExt cx="3651759" cy="30095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A54EA5D-689F-66C3-96B6-706146652F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6307" r="80594" b="50870"/>
            <a:stretch/>
          </p:blipFill>
          <p:spPr>
            <a:xfrm>
              <a:off x="5296932" y="3939611"/>
              <a:ext cx="3651759" cy="288816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B6D77C8-1AF1-BFB7-B639-D53407BE4FBF}"/>
                </a:ext>
              </a:extLst>
            </p:cNvPr>
            <p:cNvSpPr/>
            <p:nvPr/>
          </p:nvSpPr>
          <p:spPr>
            <a:xfrm>
              <a:off x="6987396" y="3927475"/>
              <a:ext cx="423054" cy="1698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B1ED83-483F-5672-F5A9-42CC0D93DC4D}"/>
                </a:ext>
              </a:extLst>
            </p:cNvPr>
            <p:cNvSpPr/>
            <p:nvPr/>
          </p:nvSpPr>
          <p:spPr>
            <a:xfrm>
              <a:off x="8657446" y="4043362"/>
              <a:ext cx="227792" cy="1698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8829694-D060-2FF1-DF1E-23A101076915}"/>
              </a:ext>
            </a:extLst>
          </p:cNvPr>
          <p:cNvGrpSpPr/>
          <p:nvPr/>
        </p:nvGrpSpPr>
        <p:grpSpPr>
          <a:xfrm>
            <a:off x="467703" y="5459727"/>
            <a:ext cx="5796721" cy="551741"/>
            <a:chOff x="4058920" y="4679472"/>
            <a:chExt cx="4951915" cy="47133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71F7D33-82B3-72B0-6BE7-BB236C0074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9342" r="56279" b="43004"/>
            <a:stretch/>
          </p:blipFill>
          <p:spPr>
            <a:xfrm>
              <a:off x="4058920" y="4679472"/>
              <a:ext cx="4951915" cy="471331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2922558-F104-9FA7-0DC4-E337DA0F1024}"/>
                </a:ext>
              </a:extLst>
            </p:cNvPr>
            <p:cNvSpPr/>
            <p:nvPr/>
          </p:nvSpPr>
          <p:spPr>
            <a:xfrm>
              <a:off x="7732825" y="4888194"/>
              <a:ext cx="1215866" cy="2169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06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3F6F2-5722-90C3-FE2F-3CD31870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GIWAXS – Origin script </a:t>
            </a:r>
            <a:r>
              <a:rPr lang="ko-KR" altLang="en-US" dirty="0"/>
              <a:t>파일 </a:t>
            </a:r>
            <a:r>
              <a:rPr lang="en-US" altLang="ko-KR" dirty="0"/>
              <a:t>(.txt)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7D8A45-22A5-849E-2AB8-B600B9E98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09" y="673240"/>
            <a:ext cx="4626948" cy="336937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.txt</a:t>
            </a:r>
            <a:r>
              <a:rPr lang="ko-KR" altLang="en-US" sz="1600" dirty="0"/>
              <a:t> 파일 열어서 전체 복사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Origin</a:t>
            </a:r>
            <a:r>
              <a:rPr lang="ko-KR" altLang="en-US" sz="1600" dirty="0"/>
              <a:t> 실행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New workbook 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생성된 </a:t>
            </a:r>
            <a:r>
              <a:rPr lang="en-US" altLang="ko-KR" sz="1600" dirty="0"/>
              <a:t>workbook</a:t>
            </a:r>
            <a:r>
              <a:rPr lang="ko-KR" altLang="en-US" sz="1600" dirty="0"/>
              <a:t>의 첫 </a:t>
            </a:r>
            <a:r>
              <a:rPr lang="en-US" altLang="ko-KR" sz="1600" dirty="0"/>
              <a:t>worksheet</a:t>
            </a:r>
            <a:r>
              <a:rPr lang="ko-KR" altLang="en-US" sz="1600" dirty="0"/>
              <a:t>가 선택된 상태에서 </a:t>
            </a:r>
            <a:r>
              <a:rPr lang="en-US" altLang="ko-KR" sz="1600" dirty="0"/>
              <a:t>“Worksheet &gt; worksheet Script…”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1</a:t>
            </a:r>
            <a:r>
              <a:rPr lang="ko-KR" altLang="en-US" sz="1600" dirty="0"/>
              <a:t>을 </a:t>
            </a:r>
            <a:r>
              <a:rPr lang="ko-KR" altLang="en-US" sz="1600" dirty="0" err="1"/>
              <a:t>붙여넣기한</a:t>
            </a:r>
            <a:r>
              <a:rPr lang="ko-KR" altLang="en-US" sz="1600" dirty="0"/>
              <a:t> 후 </a:t>
            </a:r>
            <a:r>
              <a:rPr lang="en-US" altLang="ko-KR" sz="1600" dirty="0"/>
              <a:t>“Run Script &gt; After import”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OK</a:t>
            </a:r>
            <a:r>
              <a:rPr lang="ko-KR" altLang="en-US" sz="1600" dirty="0"/>
              <a:t> 눌러서 나오기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앞 페이지에서 만들어진 </a:t>
            </a:r>
            <a:r>
              <a:rPr lang="en-US" altLang="ko-KR" sz="1600" dirty="0"/>
              <a:t>.xlsx </a:t>
            </a:r>
            <a:r>
              <a:rPr lang="ko-KR" altLang="en-US" sz="1600" dirty="0"/>
              <a:t>파일을 해당 </a:t>
            </a:r>
            <a:r>
              <a:rPr lang="en-US" altLang="ko-KR" sz="1600" dirty="0"/>
              <a:t>worksheet</a:t>
            </a:r>
            <a:r>
              <a:rPr lang="ko-KR" altLang="en-US" sz="1600" dirty="0"/>
              <a:t>에 </a:t>
            </a:r>
            <a:r>
              <a:rPr lang="en-US" altLang="ko-KR" sz="1600" dirty="0"/>
              <a:t>drag &amp; drop</a:t>
            </a:r>
            <a:r>
              <a:rPr lang="ko-KR" altLang="en-US" sz="1600" dirty="0"/>
              <a:t>하기</a:t>
            </a:r>
            <a:endParaRPr lang="en-US" altLang="ko-KR" sz="16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74FF1B-2230-FAF3-BC77-0E48C7311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0BDF02-1E1B-0DAC-2292-C7141013A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353" y="729482"/>
            <a:ext cx="2109578" cy="9779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D32F6A-6F1D-60DD-74F3-DC49DB6B7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59" y="1923232"/>
            <a:ext cx="2381372" cy="9779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469621-4420-9BC0-1C58-21D0EFC55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514" y="3096588"/>
            <a:ext cx="3078417" cy="9319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AB20B0-2B39-4999-3DBD-4616A10B0DA5}"/>
              </a:ext>
            </a:extLst>
          </p:cNvPr>
          <p:cNvSpPr txBox="1"/>
          <p:nvPr/>
        </p:nvSpPr>
        <p:spPr>
          <a:xfrm>
            <a:off x="885734" y="4545541"/>
            <a:ext cx="737253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실행 결과</a:t>
            </a:r>
            <a:endParaRPr lang="en-US" altLang="ko-KR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A</a:t>
            </a:r>
            <a:r>
              <a:rPr lang="ko-KR" altLang="en-US" sz="1400" dirty="0"/>
              <a:t>열 </a:t>
            </a:r>
            <a:r>
              <a:rPr lang="en-US" altLang="ko-KR" sz="1400" dirty="0"/>
              <a:t>(col(A)):</a:t>
            </a:r>
            <a:r>
              <a:rPr lang="ko-KR" altLang="en-US" sz="1400" dirty="0"/>
              <a:t> </a:t>
            </a:r>
            <a:r>
              <a:rPr lang="en-US" altLang="ko-KR" sz="1400" b="1" dirty="0" err="1"/>
              <a:t>qxy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qz</a:t>
            </a:r>
            <a:r>
              <a:rPr lang="ko-KR" altLang="en-US" sz="1400" b="1" dirty="0"/>
              <a:t>가 시트명에 있는지를 확인</a:t>
            </a:r>
            <a:r>
              <a:rPr lang="ko-KR" altLang="en-US" sz="1400" dirty="0"/>
              <a:t>해서 라벨</a:t>
            </a:r>
            <a:r>
              <a:rPr lang="en-US" altLang="ko-KR" sz="1400" dirty="0"/>
              <a:t>(long name)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q</a:t>
            </a:r>
            <a:r>
              <a:rPr lang="en-US" altLang="ko-KR" sz="1400" baseline="-25000" dirty="0" err="1"/>
              <a:t>xy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q</a:t>
            </a:r>
            <a:r>
              <a:rPr lang="en-US" altLang="ko-KR" sz="1400" baseline="-25000" dirty="0" err="1"/>
              <a:t>z</a:t>
            </a:r>
            <a:r>
              <a:rPr lang="ko-KR" altLang="en-US" sz="1400" dirty="0"/>
              <a:t>로 입력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B</a:t>
            </a:r>
            <a:r>
              <a:rPr lang="ko-KR" altLang="en-US" sz="1400" dirty="0"/>
              <a:t>열 </a:t>
            </a:r>
            <a:r>
              <a:rPr lang="en-US" altLang="ko-KR" sz="1400" dirty="0"/>
              <a:t>(col(B)): intensity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단위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(A)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Å</a:t>
            </a:r>
            <a:r>
              <a:rPr lang="en-US" altLang="ko-KR" sz="1400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-1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(B)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a.u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Comments: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시트명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그대로 입력됨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(plot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했을 때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legend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comment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표시할 수 있음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945602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SL_PPT_conten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SL">
      <a:majorFont>
        <a:latin typeface="Arial"/>
        <a:ea typeface="Rix모던고딕 EB"/>
        <a:cs typeface=""/>
      </a:majorFont>
      <a:minorFont>
        <a:latin typeface="Arial"/>
        <a:ea typeface="Rix모던고딕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테마2</Template>
  <TotalTime>116672</TotalTime>
  <Words>537</Words>
  <Application>Microsoft Office PowerPoint</Application>
  <PresentationFormat>화면 슬라이드 쇼(4:3)</PresentationFormat>
  <Paragraphs>79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HG꼬딕씨_Pro 20g</vt:lpstr>
      <vt:lpstr>HG꼬딕씨_Pro 40g</vt:lpstr>
      <vt:lpstr>Rix모던고딕 M</vt:lpstr>
      <vt:lpstr>맑은 고딕</vt:lpstr>
      <vt:lpstr>Arial</vt:lpstr>
      <vt:lpstr>Copperplate Gothic Bold</vt:lpstr>
      <vt:lpstr>Microsoft Sans Serif</vt:lpstr>
      <vt:lpstr>Onyx</vt:lpstr>
      <vt:lpstr>Wingdings</vt:lpstr>
      <vt:lpstr>디자인 사용자 지정</vt:lpstr>
      <vt:lpstr>OSL_PPT_contents</vt:lpstr>
      <vt:lpstr>OSL Scripts 사용 메뉴얼</vt:lpstr>
      <vt:lpstr>Origin – Plot legend에 comment 표기법</vt:lpstr>
      <vt:lpstr>Python 모듈 설치</vt:lpstr>
      <vt:lpstr>Index</vt:lpstr>
      <vt:lpstr>GIWAXS – Python 파일 (1/2)</vt:lpstr>
      <vt:lpstr>GIWAXS – Python 파일 (2/2)</vt:lpstr>
      <vt:lpstr>GIWAXS – Origin script 파일 (.txt)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Papers including TFT with 2D Materials</dc:title>
  <dc:creator>홍범범</dc:creator>
  <cp:lastModifiedBy>윤태웅ㅂ</cp:lastModifiedBy>
  <cp:revision>1370</cp:revision>
  <dcterms:created xsi:type="dcterms:W3CDTF">2019-01-21T07:21:26Z</dcterms:created>
  <dcterms:modified xsi:type="dcterms:W3CDTF">2022-12-13T02:25:25Z</dcterms:modified>
</cp:coreProperties>
</file>